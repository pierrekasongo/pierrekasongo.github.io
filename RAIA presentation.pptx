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8" r:id="rId4"/>
    <p:sldId id="266" r:id="rId5"/>
    <p:sldId id="259" r:id="rId6"/>
    <p:sldId id="260" r:id="rId7"/>
    <p:sldId id="261" r:id="rId8"/>
    <p:sldId id="262" r:id="rId9"/>
    <p:sldId id="265" r:id="rId10"/>
    <p:sldId id="264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RAIA – Le Citoyen au cœur de sa Ville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193" y="2319753"/>
            <a:ext cx="8250913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 err="1"/>
              <a:t>Présentation</a:t>
            </a:r>
            <a:r>
              <a:rPr dirty="0"/>
              <a:t> du </a:t>
            </a:r>
            <a:r>
              <a:rPr dirty="0" err="1"/>
              <a:t>projet</a:t>
            </a:r>
            <a:r>
              <a:rPr dirty="0"/>
              <a:t> au Maire de Kolwezi</a:t>
            </a:r>
            <a:endParaRPr lang="fr-FR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Vision : </a:t>
            </a:r>
            <a:r>
              <a:rPr dirty="0" err="1"/>
              <a:t>rapprocher</a:t>
            </a:r>
            <a:r>
              <a:rPr dirty="0"/>
              <a:t> les </a:t>
            </a:r>
            <a:r>
              <a:rPr dirty="0" err="1"/>
              <a:t>citoyens</a:t>
            </a:r>
            <a:r>
              <a:rPr dirty="0"/>
              <a:t> et </a:t>
            </a:r>
            <a:r>
              <a:rPr dirty="0" err="1"/>
              <a:t>l'administration</a:t>
            </a:r>
            <a:r>
              <a:rPr dirty="0"/>
              <a:t> grâce au numérique</a:t>
            </a:r>
            <a:endParaRPr lang="fr-FR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Porteur : </a:t>
            </a:r>
            <a:r>
              <a:rPr lang="fr-FR" dirty="0"/>
              <a:t>MGM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DC40-C6DA-8D70-F949-6BD2DAB4E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7D5FA-3A90-C864-0CCF-7550EACDEE47}"/>
              </a:ext>
            </a:extLst>
          </p:cNvPr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Le </a:t>
            </a:r>
            <a:r>
              <a:rPr dirty="0" err="1"/>
              <a:t>défi</a:t>
            </a:r>
            <a:r>
              <a:rPr dirty="0"/>
              <a:t> </a:t>
            </a:r>
            <a:r>
              <a:rPr dirty="0" err="1"/>
              <a:t>actuel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2AE13-6BBC-3716-3799-7F1E5AADA055}"/>
              </a:ext>
            </a:extLst>
          </p:cNvPr>
          <p:cNvSpPr txBox="1"/>
          <p:nvPr/>
        </p:nvSpPr>
        <p:spPr>
          <a:xfrm>
            <a:off x="548640" y="1386941"/>
            <a:ext cx="650158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Faible</a:t>
            </a:r>
            <a:r>
              <a:rPr dirty="0"/>
              <a:t> </a:t>
            </a:r>
            <a:r>
              <a:rPr dirty="0" err="1"/>
              <a:t>remontée</a:t>
            </a:r>
            <a:r>
              <a:rPr dirty="0"/>
              <a:t> </a:t>
            </a:r>
            <a:r>
              <a:rPr dirty="0" err="1"/>
              <a:t>d'informations</a:t>
            </a:r>
            <a:r>
              <a:rPr dirty="0"/>
              <a:t> du terrain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Interventions </a:t>
            </a:r>
            <a:r>
              <a:rPr dirty="0" err="1"/>
              <a:t>parfois</a:t>
            </a:r>
            <a:r>
              <a:rPr dirty="0"/>
              <a:t> </a:t>
            </a:r>
            <a:r>
              <a:rPr dirty="0" err="1"/>
              <a:t>tardives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Communication </a:t>
            </a:r>
            <a:r>
              <a:rPr dirty="0" err="1"/>
              <a:t>limitée</a:t>
            </a:r>
            <a:r>
              <a:rPr dirty="0"/>
              <a:t> entre </a:t>
            </a:r>
            <a:r>
              <a:rPr dirty="0" err="1"/>
              <a:t>mairie</a:t>
            </a:r>
            <a:r>
              <a:rPr dirty="0"/>
              <a:t> et </a:t>
            </a:r>
            <a:r>
              <a:rPr dirty="0" err="1"/>
              <a:t>citoyens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Besoin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gouvernance</a:t>
            </a:r>
            <a:r>
              <a:rPr dirty="0"/>
              <a:t> </a:t>
            </a:r>
            <a:r>
              <a:rPr dirty="0" err="1"/>
              <a:t>moderne</a:t>
            </a:r>
            <a:r>
              <a:rPr dirty="0"/>
              <a:t> et </a:t>
            </a:r>
            <a:r>
              <a:rPr dirty="0" err="1"/>
              <a:t>transparente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382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Notre solution : RAIA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32" y="1305342"/>
            <a:ext cx="7500643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Application </a:t>
            </a:r>
            <a:r>
              <a:rPr dirty="0" err="1"/>
              <a:t>citoyenne</a:t>
            </a:r>
            <a:r>
              <a:rPr dirty="0"/>
              <a:t> de </a:t>
            </a:r>
            <a:r>
              <a:rPr dirty="0" err="1"/>
              <a:t>signalement</a:t>
            </a:r>
            <a:r>
              <a:rPr dirty="0"/>
              <a:t> </a:t>
            </a:r>
            <a:r>
              <a:rPr dirty="0" err="1"/>
              <a:t>géolocalisé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fr-FR" dirty="0"/>
              <a:t>Signalement avec preuve (audio, images, vidéos, localisation)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Suivi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temps </a:t>
            </a:r>
            <a:r>
              <a:rPr dirty="0" err="1"/>
              <a:t>réel</a:t>
            </a:r>
            <a:r>
              <a:rPr dirty="0"/>
              <a:t> des interventions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Boîte</a:t>
            </a:r>
            <a:r>
              <a:rPr dirty="0"/>
              <a:t> à suggestions </a:t>
            </a:r>
            <a:r>
              <a:rPr dirty="0" err="1"/>
              <a:t>citoyennes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Facile à </a:t>
            </a:r>
            <a:r>
              <a:rPr lang="en-US" dirty="0" err="1"/>
              <a:t>utiliser</a:t>
            </a:r>
            <a:r>
              <a:rPr lang="en-US" dirty="0"/>
              <a:t> sur telephone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dirty="0" err="1"/>
              <a:t>Dotée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platerforme</a:t>
            </a:r>
            <a:r>
              <a:rPr lang="en-US" dirty="0"/>
              <a:t> web pour </a:t>
            </a:r>
            <a:r>
              <a:rPr lang="en-US" dirty="0" err="1"/>
              <a:t>l’administration</a:t>
            </a:r>
            <a:endParaRPr lang="fr-FR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D7E97-7E07-7A30-D528-D935115A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429187-2C9B-7C9D-0E24-7DC64ADBE81F}"/>
              </a:ext>
            </a:extLst>
          </p:cNvPr>
          <p:cNvSpPr txBox="1"/>
          <p:nvPr/>
        </p:nvSpPr>
        <p:spPr>
          <a:xfrm>
            <a:off x="548640" y="274320"/>
            <a:ext cx="32624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fr-FR" dirty="0"/>
              <a:t>Modules disponibles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1A3F2-AF01-BA7E-B30B-486AB452C678}"/>
              </a:ext>
            </a:extLst>
          </p:cNvPr>
          <p:cNvSpPr txBox="1"/>
          <p:nvPr/>
        </p:nvSpPr>
        <p:spPr>
          <a:xfrm>
            <a:off x="548640" y="869622"/>
            <a:ext cx="44322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Application </a:t>
            </a:r>
            <a:r>
              <a:rPr lang="en-US" b="1" dirty="0" err="1"/>
              <a:t>citoyenne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Signalement</a:t>
            </a:r>
            <a:r>
              <a:rPr lang="en-US" dirty="0"/>
              <a:t> </a:t>
            </a:r>
            <a:r>
              <a:rPr lang="en-US" dirty="0" err="1"/>
              <a:t>géolocalisé</a:t>
            </a:r>
            <a:r>
              <a:rPr lang="en-US" dirty="0"/>
              <a:t> (photo, </a:t>
            </a:r>
            <a:r>
              <a:rPr lang="en-US" dirty="0" err="1"/>
              <a:t>vidéo</a:t>
            </a:r>
            <a:r>
              <a:rPr lang="en-US" dirty="0"/>
              <a:t>, audio)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GPS </a:t>
            </a:r>
            <a:r>
              <a:rPr lang="en-US" dirty="0" err="1"/>
              <a:t>automatique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Suivi</a:t>
            </a:r>
            <a:r>
              <a:rPr lang="en-US" dirty="0"/>
              <a:t> de </a:t>
            </a:r>
            <a:r>
              <a:rPr lang="en-US" dirty="0" err="1"/>
              <a:t>l'état</a:t>
            </a:r>
            <a:r>
              <a:rPr lang="en-US" dirty="0"/>
              <a:t> des incidents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Suggestions et propositions </a:t>
            </a:r>
            <a:r>
              <a:rPr lang="en-US" dirty="0" err="1"/>
              <a:t>citoyennes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Notifications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Historique</a:t>
            </a:r>
            <a:r>
              <a:rPr lang="en-US" dirty="0"/>
              <a:t> des </a:t>
            </a:r>
            <a:r>
              <a:rPr lang="en-US" dirty="0" err="1"/>
              <a:t>signalements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Vote et </a:t>
            </a:r>
            <a:r>
              <a:rPr lang="en-US" dirty="0" err="1"/>
              <a:t>soutien</a:t>
            </a:r>
            <a:r>
              <a:rPr lang="en-US" dirty="0"/>
              <a:t> des </a:t>
            </a:r>
            <a:r>
              <a:rPr lang="en-US" dirty="0" err="1"/>
              <a:t>signalements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Signalement</a:t>
            </a:r>
            <a:r>
              <a:rPr lang="en-US" dirty="0"/>
              <a:t> anonyme (</a:t>
            </a:r>
            <a:r>
              <a:rPr lang="en-US" dirty="0" err="1"/>
              <a:t>optionnel</a:t>
            </a:r>
            <a:r>
              <a:rPr lang="en-US" dirty="0"/>
              <a:t>)</a:t>
            </a:r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C7539-ED2D-436B-FD5A-08503EEF7B0A}"/>
              </a:ext>
            </a:extLst>
          </p:cNvPr>
          <p:cNvSpPr txBox="1"/>
          <p:nvPr/>
        </p:nvSpPr>
        <p:spPr>
          <a:xfrm>
            <a:off x="7019239" y="869622"/>
            <a:ext cx="4432242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Tableau de bord de la </a:t>
            </a:r>
            <a:r>
              <a:rPr lang="en-US" b="1" dirty="0" err="1"/>
              <a:t>mairie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Cartographie</a:t>
            </a:r>
            <a:r>
              <a:rPr lang="en-US" dirty="0"/>
              <a:t> interactive des incidents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Gestion des interventions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Affectation aux services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Priorisation</a:t>
            </a:r>
            <a:r>
              <a:rPr lang="en-US" dirty="0"/>
              <a:t> </a:t>
            </a:r>
            <a:r>
              <a:rPr lang="en-US" dirty="0" err="1"/>
              <a:t>automatique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Tableau de bord KPI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Rapports PDF </a:t>
            </a:r>
            <a:r>
              <a:rPr lang="en-US" dirty="0" err="1"/>
              <a:t>automatiques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Export Excel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Historique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des interventions</a:t>
            </a:r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5863D-D28F-AB56-A4D5-622E43D07D86}"/>
              </a:ext>
            </a:extLst>
          </p:cNvPr>
          <p:cNvSpPr txBox="1"/>
          <p:nvPr/>
        </p:nvSpPr>
        <p:spPr>
          <a:xfrm>
            <a:off x="548640" y="3887715"/>
            <a:ext cx="443224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Intelligence </a:t>
            </a:r>
            <a:r>
              <a:rPr lang="en-US" b="1" dirty="0" err="1"/>
              <a:t>décisionnelle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Analyse</a:t>
            </a:r>
            <a:r>
              <a:rPr lang="en-US" dirty="0"/>
              <a:t> par zone </a:t>
            </a:r>
            <a:r>
              <a:rPr lang="en-US" dirty="0" err="1"/>
              <a:t>géographique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Tendances </a:t>
            </a:r>
            <a:r>
              <a:rPr lang="en-US" dirty="0" err="1"/>
              <a:t>mensuelles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Heatmaps des incidents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Temps moyen de </a:t>
            </a:r>
            <a:r>
              <a:rPr lang="en-US" dirty="0" err="1"/>
              <a:t>résolution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des services </a:t>
            </a:r>
            <a:r>
              <a:rPr lang="en-US" dirty="0" err="1"/>
              <a:t>municipaux</a:t>
            </a:r>
            <a:r>
              <a:rPr lang="en-US" dirty="0"/>
              <a:t> </a:t>
            </a:r>
          </a:p>
          <a:p>
            <a:pPr>
              <a:defRPr sz="22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317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Bénéfices pour la Mairie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8801" y="3135962"/>
            <a:ext cx="62216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Carte temps </a:t>
            </a:r>
            <a:r>
              <a:rPr dirty="0" err="1"/>
              <a:t>réel</a:t>
            </a:r>
            <a:r>
              <a:rPr dirty="0"/>
              <a:t> des incidents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Priorisation</a:t>
            </a:r>
            <a:r>
              <a:rPr dirty="0"/>
              <a:t> des interventions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Tableaux de bord et </a:t>
            </a:r>
            <a:r>
              <a:rPr dirty="0" err="1"/>
              <a:t>statistiques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dirty="0" err="1"/>
              <a:t>Mesurer</a:t>
            </a:r>
            <a:r>
              <a:rPr lang="en-US" dirty="0"/>
              <a:t> </a:t>
            </a:r>
            <a:r>
              <a:rPr lang="en-US" dirty="0" err="1"/>
              <a:t>facilement</a:t>
            </a:r>
            <a:r>
              <a:rPr lang="en-US" dirty="0"/>
              <a:t> les interventions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Amélioration</a:t>
            </a:r>
            <a:r>
              <a:rPr dirty="0"/>
              <a:t> de la transparence et de la </a:t>
            </a:r>
            <a:r>
              <a:rPr dirty="0" err="1"/>
              <a:t>confiance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23E28-995C-1221-41B8-B526C9E41B9E}"/>
              </a:ext>
            </a:extLst>
          </p:cNvPr>
          <p:cNvSpPr txBox="1"/>
          <p:nvPr/>
        </p:nvSpPr>
        <p:spPr>
          <a:xfrm>
            <a:off x="683652" y="1043483"/>
            <a:ext cx="625675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sz="2200" b="1" dirty="0"/>
              <a:t>Réponse à </a:t>
            </a:r>
            <a:r>
              <a:rPr lang="en-US" sz="2200" b="1" dirty="0" err="1"/>
              <a:t>l’une</a:t>
            </a:r>
            <a:r>
              <a:rPr lang="en-US" sz="2200" b="1" dirty="0"/>
              <a:t> des missions</a:t>
            </a:r>
          </a:p>
          <a:p>
            <a:pPr>
              <a:defRPr sz="2200"/>
            </a:pPr>
            <a:endParaRPr lang="en-US" sz="2200" b="1" dirty="0"/>
          </a:p>
          <a:p>
            <a:pPr>
              <a:defRPr sz="2200"/>
            </a:pPr>
            <a:r>
              <a:rPr lang="en-US" sz="2200" b="1" dirty="0"/>
              <a:t>La </a:t>
            </a:r>
            <a:r>
              <a:rPr lang="en-US" sz="2200" b="1" dirty="0" err="1"/>
              <a:t>salubrité</a:t>
            </a:r>
            <a:r>
              <a:rPr lang="en-US" sz="2200" b="1" dirty="0"/>
              <a:t>, </a:t>
            </a:r>
            <a:r>
              <a:rPr lang="en-US" sz="2200" b="1" dirty="0" err="1"/>
              <a:t>l'hygiène</a:t>
            </a:r>
            <a:r>
              <a:rPr lang="en-US" sz="2200" b="1" dirty="0"/>
              <a:t> et </a:t>
            </a:r>
            <a:r>
              <a:rPr lang="en-US" sz="2200" b="1" dirty="0" err="1"/>
              <a:t>l'urbanisme</a:t>
            </a:r>
            <a:r>
              <a:rPr lang="en-US" sz="2200" dirty="0"/>
              <a:t> : La gestion des infrastructures, la planification </a:t>
            </a:r>
            <a:r>
              <a:rPr lang="en-US" sz="2200" dirty="0" err="1"/>
              <a:t>urbaine</a:t>
            </a:r>
            <a:r>
              <a:rPr lang="en-US" sz="2200" dirty="0"/>
              <a:t>, le </a:t>
            </a:r>
            <a:r>
              <a:rPr lang="en-US" sz="2200" dirty="0" err="1"/>
              <a:t>suivi</a:t>
            </a:r>
            <a:r>
              <a:rPr lang="en-US" sz="2200" dirty="0"/>
              <a:t> de </a:t>
            </a:r>
            <a:r>
              <a:rPr lang="en-US" sz="2200" dirty="0" err="1"/>
              <a:t>l'aménagement</a:t>
            </a:r>
            <a:r>
              <a:rPr lang="en-US" sz="2200" dirty="0"/>
              <a:t> de la </a:t>
            </a:r>
            <a:r>
              <a:rPr lang="en-US" sz="2200" dirty="0" err="1"/>
              <a:t>ville</a:t>
            </a:r>
            <a:r>
              <a:rPr lang="en-US" sz="2200" dirty="0"/>
              <a:t> et la </a:t>
            </a:r>
            <a:r>
              <a:rPr lang="en-US" sz="2200" dirty="0" err="1"/>
              <a:t>salubrité</a:t>
            </a:r>
            <a:r>
              <a:rPr lang="en-US" sz="2200" dirty="0"/>
              <a:t> </a:t>
            </a:r>
            <a:r>
              <a:rPr lang="en-US" sz="2200" dirty="0" err="1"/>
              <a:t>publique</a:t>
            </a:r>
            <a:r>
              <a:rPr lang="en-US" sz="22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Pourquoi commencer par Kolwezi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94760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Ville </a:t>
            </a:r>
            <a:r>
              <a:rPr dirty="0" err="1"/>
              <a:t>pilote</a:t>
            </a:r>
            <a:r>
              <a:rPr dirty="0"/>
              <a:t> </a:t>
            </a:r>
            <a:r>
              <a:rPr dirty="0" err="1"/>
              <a:t>idéale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Equipe du </a:t>
            </a:r>
            <a:r>
              <a:rPr lang="en-US" dirty="0" err="1"/>
              <a:t>projet</a:t>
            </a:r>
            <a:r>
              <a:rPr lang="en-US" dirty="0"/>
              <a:t> sur place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Déploiement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 et </a:t>
            </a:r>
            <a:r>
              <a:rPr dirty="0" err="1"/>
              <a:t>mesurable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Positionner</a:t>
            </a:r>
            <a:r>
              <a:rPr dirty="0"/>
              <a:t> Kolwezi </a:t>
            </a:r>
            <a:r>
              <a:rPr dirty="0" err="1"/>
              <a:t>comme</a:t>
            </a:r>
            <a:r>
              <a:rPr dirty="0"/>
              <a:t> première Smart City de RDC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Plan de déploiement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Phase 1 : </a:t>
            </a:r>
            <a:r>
              <a:rPr dirty="0" err="1"/>
              <a:t>Pilote</a:t>
            </a:r>
            <a:r>
              <a:rPr dirty="0"/>
              <a:t> avec la </a:t>
            </a:r>
            <a:r>
              <a:rPr dirty="0" err="1"/>
              <a:t>mairie</a:t>
            </a:r>
            <a:endParaRPr dirty="0"/>
          </a:p>
          <a:p>
            <a:pPr>
              <a:defRPr sz="2200"/>
            </a:pPr>
            <a:r>
              <a:rPr dirty="0"/>
              <a:t>Phase 2 : </a:t>
            </a:r>
            <a:r>
              <a:rPr dirty="0" err="1"/>
              <a:t>Optimisation</a:t>
            </a:r>
            <a:endParaRPr dirty="0"/>
          </a:p>
          <a:p>
            <a:pPr>
              <a:defRPr sz="2200"/>
            </a:pPr>
            <a:r>
              <a:rPr dirty="0"/>
              <a:t>Phase 3 : Extension </a:t>
            </a:r>
            <a:r>
              <a:rPr dirty="0" err="1"/>
              <a:t>nationale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Impacts attendus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0950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Réduction</a:t>
            </a:r>
            <a:r>
              <a:rPr dirty="0"/>
              <a:t> du temps </a:t>
            </a:r>
            <a:r>
              <a:rPr dirty="0" err="1"/>
              <a:t>d'intervention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Ville plus propre et plus </a:t>
            </a:r>
            <a:r>
              <a:rPr dirty="0" err="1"/>
              <a:t>sûre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Engagement </a:t>
            </a:r>
            <a:r>
              <a:rPr dirty="0" err="1"/>
              <a:t>citoyen</a:t>
            </a:r>
            <a:r>
              <a:rPr dirty="0"/>
              <a:t> </a:t>
            </a:r>
            <a:r>
              <a:rPr dirty="0" err="1"/>
              <a:t>accru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Valorisation</a:t>
            </a:r>
            <a:r>
              <a:rPr dirty="0"/>
              <a:t> de </a:t>
            </a:r>
            <a:r>
              <a:rPr dirty="0" err="1"/>
              <a:t>l'image</a:t>
            </a:r>
            <a:r>
              <a:rPr dirty="0"/>
              <a:t> de la </a:t>
            </a:r>
            <a:r>
              <a:rPr dirty="0" err="1"/>
              <a:t>mairie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0629-7BE4-9F66-C151-D14B81CCD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7CC82-5097-32D8-58E7-3B511BA50848}"/>
              </a:ext>
            </a:extLst>
          </p:cNvPr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Proposition au Maire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14135-7B30-818E-C49F-565EE953184E}"/>
              </a:ext>
            </a:extLst>
          </p:cNvPr>
          <p:cNvSpPr txBox="1"/>
          <p:nvPr/>
        </p:nvSpPr>
        <p:spPr>
          <a:xfrm>
            <a:off x="699452" y="914400"/>
            <a:ext cx="555459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Accord pour un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pilote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Désignation</a:t>
            </a:r>
            <a:r>
              <a:rPr dirty="0"/>
              <a:t> d'un point focal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 err="1"/>
              <a:t>Démonstration</a:t>
            </a:r>
            <a:r>
              <a:rPr dirty="0"/>
              <a:t> technique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Construction </a:t>
            </a:r>
            <a:r>
              <a:rPr dirty="0" err="1"/>
              <a:t>conjointe</a:t>
            </a:r>
            <a:r>
              <a:rPr dirty="0"/>
              <a:t> de la </a:t>
            </a:r>
            <a:r>
              <a:rPr dirty="0" err="1"/>
              <a:t>feuille</a:t>
            </a:r>
            <a:r>
              <a:rPr dirty="0"/>
              <a:t> de route</a:t>
            </a:r>
          </a:p>
        </p:txBody>
      </p:sp>
    </p:spTree>
    <p:extLst>
      <p:ext uri="{BB962C8B-B14F-4D97-AF65-F5344CB8AC3E}">
        <p14:creationId xmlns:p14="http://schemas.microsoft.com/office/powerpoint/2010/main" val="115886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« Ensemble, </a:t>
            </a:r>
            <a:r>
              <a:rPr dirty="0" err="1"/>
              <a:t>faisons</a:t>
            </a:r>
            <a:r>
              <a:rPr dirty="0"/>
              <a:t> de Kolwezi la </a:t>
            </a:r>
            <a:r>
              <a:rPr dirty="0" err="1"/>
              <a:t>référence</a:t>
            </a:r>
            <a:r>
              <a:rPr dirty="0"/>
              <a:t> </a:t>
            </a:r>
            <a:r>
              <a:rPr dirty="0" err="1"/>
              <a:t>nationale</a:t>
            </a:r>
            <a:r>
              <a:rPr dirty="0"/>
              <a:t> de la </a:t>
            </a:r>
            <a:r>
              <a:rPr dirty="0" err="1"/>
              <a:t>gouvernance</a:t>
            </a:r>
            <a:r>
              <a:rPr dirty="0"/>
              <a:t> numérique.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146D7-2283-8F77-9E23-8F18D8B5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99359-D659-6166-4E2C-E0017E9159D0}"/>
              </a:ext>
            </a:extLst>
          </p:cNvPr>
          <p:cNvSpPr txBox="1"/>
          <p:nvPr/>
        </p:nvSpPr>
        <p:spPr>
          <a:xfrm>
            <a:off x="5523582" y="3167390"/>
            <a:ext cx="11416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fr-FR" dirty="0"/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399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351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Kasongo Tshiaba, Pierre (Katanga - CD)</cp:lastModifiedBy>
  <cp:revision>14</cp:revision>
  <dcterms:created xsi:type="dcterms:W3CDTF">2013-01-27T09:14:16Z</dcterms:created>
  <dcterms:modified xsi:type="dcterms:W3CDTF">2026-07-21T13:00:00Z</dcterms:modified>
  <cp:category/>
</cp:coreProperties>
</file>